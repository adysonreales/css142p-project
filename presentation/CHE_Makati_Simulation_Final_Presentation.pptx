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ACADEMIC RESEARCH PRESENTATION | CSS142P MODELING &amp; SIMULATION</a:t>
            </a:r>
          </a:p>
          <a:p>
            <a:pPr>
              <a:spcAft>
                <a:spcPts val="600"/>
              </a:spcAft>
              <a:defRPr sz="2300" b="1">
                <a:solidFill>
                  <a:srgbClr val="FFFFFF"/>
                </a:solidFill>
              </a:defRPr>
            </a:pPr>
            <a:r>
              <a:t>Optimizing Multi-Channel Order Fulfillment and Queue Dynamics at Carlo's Bacolod Chicken House Express (CHE) Makati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A Discrete-Event Simulation Approach to Order-Taking, Charcoal Grilling, and Line Bottlenecks</a:t>
            </a:r>
          </a:p>
          <a:p>
            <a:pPr>
              <a:spcAft>
                <a:spcPts val="400"/>
              </a:spcAft>
              <a:defRPr sz="1050" b="1">
                <a:solidFill>
                  <a:srgbClr val="EA580C"/>
                </a:solidFill>
              </a:defRPr>
            </a:pPr>
            <a:r>
              <a:t>Research Investigators: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Sean Earl Y. Bornilla (Presenter 1: Problem Formulation, Objectives &amp; Scope)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Joven Terence O. Cantalejo (Presenter 2: Empirical Data, Input Distributions &amp; SimPy Model)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</a:defRPr>
            </a:pPr>
            <a:r>
              <a:t>• Adyson M. Reales (Presenter 3: Baseline Diagnostics, Scenarios, Validation &amp; Policy)</a:t>
            </a:r>
          </a:p>
          <a:p>
            <a:br/>
            <a:pPr>
              <a:defRPr sz="950">
                <a:solidFill>
                  <a:srgbClr val="64748B"/>
                </a:solidFill>
              </a:defRPr>
            </a:pPr>
            <a:r>
              <a:t>Faculty of Information &amp; Communications Technology |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OPERATIONAL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Establishment Profile &amp; Operational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Sean Earl Y. Bornilla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B22225"/>
                </a:solidFill>
              </a:defRPr>
            </a:pPr>
            <a:r>
              <a:t>Carlo's Bacolod Chicken House Express (CHE)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Location: </a:t>
            </a:r>
            <a:r>
              <a:rPr b="0" sz="950">
                <a:solidFill>
                  <a:srgbClr val="475569"/>
                </a:solidFill>
              </a:rPr>
              <a:t>Savana Commercial Center, Metropolitan Ave. cor. Chino Roces Ave., Brgy. Sta. Cruz, Makati City.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Core Offering: </a:t>
            </a:r>
            <a:r>
              <a:rPr b="0" sz="950">
                <a:solidFill>
                  <a:srgbClr val="475569"/>
                </a:solidFill>
              </a:rPr>
              <a:t>Authentic Bacolod-style charcoal grilled chicken inasal (pecho, paa, isol, baticolon) paired with garlic rice.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High-Density Dining: </a:t>
            </a:r>
            <a:r>
              <a:rPr b="0" sz="950">
                <a:solidFill>
                  <a:srgbClr val="475569"/>
                </a:solidFill>
              </a:rPr>
              <a:t>12 dining tables (approx. 40 total seating capacity), operating across compact split dining halls.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Peak Rush Hours: </a:t>
            </a:r>
            <a:r>
              <a:rPr b="0" sz="950">
                <a:solidFill>
                  <a:srgbClr val="475569"/>
                </a:solidFill>
              </a:rPr>
              <a:t>Intense stochastic rushes during Lunch (11:30 AM – 1:30 PM) and Dinner (6:00 PM – 8:30 PM).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Coupled Workstages: </a:t>
            </a:r>
            <a:r>
              <a:rPr b="0" sz="950">
                <a:solidFill>
                  <a:srgbClr val="475569"/>
                </a:solidFill>
              </a:rPr>
              <a:t>Order-taking (Cashier POS) is tightly coupled with physical batch grilling and manual assembly/packaging.</a:t>
            </a:r>
          </a:p>
        </p:txBody>
      </p:sp>
      <p:pic>
        <p:nvPicPr>
          <p:cNvPr id="8" name="Picture 7" descr="che-entranc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331720"/>
          </a:xfrm>
          <a:prstGeom prst="rect">
            <a:avLst/>
          </a:prstGeom>
        </p:spPr>
      </p:pic>
      <p:pic>
        <p:nvPicPr>
          <p:cNvPr id="9" name="Picture 8" descr="che-interior-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52120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Multi-Channel Queueing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Sean Earl Y. Bornilla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13455" cy="21945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2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50" b="1">
                <a:solidFill>
                  <a:srgbClr val="B22225"/>
                </a:solidFill>
              </a:defRPr>
            </a:pPr>
            <a:r>
              <a:t>Dine-In Patrons (41.7%)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Compete for cashier attention to browse menu and order for table parties; must secure 1 of 12 tables after tray assembly.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13455" cy="2194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50" b="1">
                <a:solidFill>
                  <a:srgbClr val="D97706"/>
                </a:solidFill>
              </a:defRPr>
            </a:pPr>
            <a:r>
              <a:t>Walk-In Takeout (30.8%)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Wait in shared physical line; occupy lobby space during meal preparation; demand packaged bags and condiments.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13455" cy="2194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50" b="1">
                <a:solidFill>
                  <a:srgbClr val="0284C7"/>
                </a:solidFill>
              </a:defRPr>
            </a:pPr>
            <a:r>
              <a:t>Delivery Couriers (27.5%)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GrabFood / Foodpanda riders on tight delivery SLAs; cluster at entrance with large insulated thermal boxes.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7286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The Core Systemic Bottlenecks Identified: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Single Shared Cashier Bottleneck: </a:t>
            </a:r>
            <a:r>
              <a:rPr b="0" sz="950">
                <a:solidFill>
                  <a:srgbClr val="475569"/>
                </a:solidFill>
              </a:rPr>
              <a:t>A single POS register handles all three disparate channels, causing long queue buildup and transaction delays.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Physical Corridor Congestion: </a:t>
            </a:r>
            <a:r>
              <a:rPr b="0" sz="950">
                <a:solidFill>
                  <a:srgbClr val="475569"/>
                </a:solidFill>
              </a:rPr>
              <a:t>A single narrow corridor forces queuing customers, seated diners, and standing courier riders to compete for the same physical space.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Severe Customer Balking: </a:t>
            </a:r>
            <a:r>
              <a:rPr b="0" sz="950">
                <a:solidFill>
                  <a:srgbClr val="475569"/>
                </a:solidFill>
              </a:rPr>
              <a:t>When line length exceeds 8 patrons, incoming customers walk away without ordering, leading to massive lost restaurant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STUDY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Research Objectives &amp; Key Performance Measures (KPIs)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Sean Earl Y. Bornilla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B22225"/>
                </a:solidFill>
              </a:defRPr>
            </a:pPr>
            <a:r>
              <a:t>Primary Research Objectives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1. Empirical Data Collection: </a:t>
            </a:r>
            <a:r>
              <a:rPr b="0" sz="950">
                <a:solidFill>
                  <a:srgbClr val="475569"/>
                </a:solidFill>
              </a:rPr>
              <a:t>Collect stopwatch field observations during peak lunch sessions to record inter-arrival times, ordering times, queue lengths, and balking.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2. Statistical Distribution Fitting: </a:t>
            </a:r>
            <a:r>
              <a:rPr b="0" sz="950">
                <a:solidFill>
                  <a:srgbClr val="475569"/>
                </a:solidFill>
              </a:rPr>
              <a:t>Fit parametric probability distributions to operational variables using Kolmogorov-Smirnov goodness-of-fit testing.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3. Baseline DES Model Construction: </a:t>
            </a:r>
            <a:r>
              <a:rPr b="0" sz="950">
                <a:solidFill>
                  <a:srgbClr val="475569"/>
                </a:solidFill>
              </a:rPr>
              <a:t>Develop an event-driven discrete-event simulation in Python (SimPy) replicating CHE's coupled multi-stage production network.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4. Scenario Optimization &amp; Validation: </a:t>
            </a:r>
            <a:r>
              <a:rPr b="0" sz="950">
                <a:solidFill>
                  <a:srgbClr val="475569"/>
                </a:solidFill>
              </a:rPr>
              <a:t>Evaluate decoupled counters, floating order-takers, and dynamic staff reallocation to minimize waiting time and balking.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Evaluated Key Performance Measures (KPIs)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$W_q$ (Mean Queue Waiting Time): </a:t>
            </a:r>
            <a:r>
              <a:rPr b="0" sz="950">
                <a:solidFill>
                  <a:srgbClr val="475569"/>
                </a:solidFill>
              </a:rPr>
              <a:t>Average duration a customer/rider waits before reaching cashier (Minutes). Target: &lt; 3.0 min.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$L_q$ / $L_{max}$ (Queue Length): </a:t>
            </a:r>
            <a:r>
              <a:rPr b="0" sz="950">
                <a:solidFill>
                  <a:srgbClr val="475569"/>
                </a:solidFill>
              </a:rPr>
              <a:t>Time-weighted average and peak customer count standing in order queue (Pax).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$D_{dwell}$ (Courier Dwell Time): </a:t>
            </a:r>
            <a:r>
              <a:rPr b="0" sz="950">
                <a:solidFill>
                  <a:srgbClr val="475569"/>
                </a:solidFill>
              </a:rPr>
              <a:t>Total elapsed time from courier arrival until order dispatch handoff (Minutes).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$P_{balk}$ (Customer Balking Rate): </a:t>
            </a:r>
            <a:r>
              <a:rPr b="0" sz="950">
                <a:solidFill>
                  <a:srgbClr val="475569"/>
                </a:solidFill>
              </a:rPr>
              <a:t>Percentage of arriving customers who walk away due to excessive queue length (%).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$\rho_{cashier}, \rho_{grill}$ (Utilization): </a:t>
            </a:r>
            <a:r>
              <a:rPr b="0" sz="950">
                <a:solidFill>
                  <a:srgbClr val="475569"/>
                </a:solidFill>
              </a:rPr>
              <a:t>Percentage of operational time cashier, grill master, and assembly staff are actively engaged (%).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Throughput ($TH$): </a:t>
            </a:r>
            <a:r>
              <a:rPr b="0" sz="950">
                <a:solidFill>
                  <a:srgbClr val="475569"/>
                </a:solidFill>
              </a:rPr>
              <a:t>Completed order fulfillments per operational hour across all 3 channels.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METHODOLOGICAL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Study Scope, Delimitations &amp; Modeling Assumptions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Sean Earl Y. Bornilla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B22225"/>
                </a:solidFill>
              </a:defRPr>
            </a:pPr>
            <a:r>
              <a:t>In-Scope Operational Elements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Temporal Window: </a:t>
            </a:r>
            <a:r>
              <a:rPr b="0" sz="950">
                <a:solidFill>
                  <a:srgbClr val="475569"/>
                </a:solidFill>
              </a:rPr>
              <a:t>2-hour peak lunch rush (11:30 AM – 1:30 PM, 120 minutes) with 15-minute warmup initialization.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Three Distinct Channels: </a:t>
            </a:r>
            <a:r>
              <a:rPr b="0" sz="950">
                <a:solidFill>
                  <a:srgbClr val="475569"/>
                </a:solidFill>
              </a:rPr>
              <a:t>Dine-in patrons, walk-in takeout customers, and third-party delivery riders (GrabFood, Foodpanda).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Coupled Production Stages: </a:t>
            </a:r>
            <a:r>
              <a:rPr b="0" sz="950">
                <a:solidFill>
                  <a:srgbClr val="475569"/>
                </a:solidFill>
              </a:rPr>
              <a:t>Stage 1: POS Counter $\rightarrow$ Stage 2A: Charcoal Grill $\rightarrow$ Stage 2B: Assembly $\rightarrow$ Stage 3: Seating / Sidewalk.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Balking Mechanism: </a:t>
            </a:r>
            <a:r>
              <a:rPr b="0" sz="950">
                <a:solidFill>
                  <a:srgbClr val="475569"/>
                </a:solidFill>
              </a:rPr>
              <a:t>Queue-dependent balking probability triggered when line length exceeds threshold ($L_q &gt; 8$ pax).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Explicit Delimitations &amp; Assumptions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Non-Intrusive Public Observation: </a:t>
            </a:r>
            <a:r>
              <a:rPr b="0" sz="950">
                <a:solidFill>
                  <a:srgbClr val="475569"/>
                </a:solidFill>
              </a:rPr>
              <a:t>Timings gathered via stopwatch and visual tallies from public dining area; no interference with kitchen staff.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Grill Physics Abstraction: </a:t>
            </a:r>
            <a:r>
              <a:rPr b="0" sz="950">
                <a:solidFill>
                  <a:srgbClr val="475569"/>
                </a:solidFill>
              </a:rPr>
              <a:t>Charcoal batch cooking is modeled via calibrated stochastic service delays (8.5–9.5 min / 14 pcs), not thermodynamic heat transfer.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Bounded Dining Delays: </a:t>
            </a:r>
            <a:r>
              <a:rPr b="0" sz="950">
                <a:solidFill>
                  <a:srgbClr val="475569"/>
                </a:solidFill>
              </a:rPr>
              <a:t>Table occupancy is modeled as a stochastic duration distribution (mean ~14.0 min); pathfinding inside dining rooms is bounded.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Excluded Factors: </a:t>
            </a:r>
            <a:r>
              <a:rPr b="0" sz="950">
                <a:solidFill>
                  <a:srgbClr val="475569"/>
                </a:solidFill>
              </a:rPr>
              <a:t>Financial balance sheets, supply chain raw ingredient purchasing, and menu price elasticities are outside simulation scope.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EMPIRICAL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Field Data Collection Protocol &amp; Observation Bins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Joven Terence O. Cantalejo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B22225"/>
                </a:solidFill>
              </a:defRPr>
            </a:pPr>
            <a:r>
              <a:t>Data Collection Protocol at Savana Market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Site Observation Schedule: </a:t>
            </a:r>
            <a:r>
              <a:rPr b="0" sz="950">
                <a:solidFill>
                  <a:srgbClr val="475569"/>
                </a:solidFill>
              </a:rPr>
              <a:t>On-site stopwatch measurements conducted during peak lunch periods at Savana Commercial Center, Makati.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15-Minute Binned Tracking: </a:t>
            </a:r>
            <a:r>
              <a:rPr b="0" sz="950">
                <a:solidFill>
                  <a:srgbClr val="475569"/>
                </a:solidFill>
              </a:rPr>
              <a:t>Arrival intensity, queue length, and transaction milestones logged in 15-minute intervals to capture surge non-homogeneity.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Channel Tagging: </a:t>
            </a:r>
            <a:r>
              <a:rPr b="0" sz="950">
                <a:solidFill>
                  <a:srgbClr val="475569"/>
                </a:solidFill>
              </a:rPr>
              <a:t>Each arrival explicitly classified: Dine-In, Walk-In Takeout, or Delivery Courier (noting courier brand: GrabFood vs Foodpanda).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Timestamp Milestones Logged: </a:t>
            </a:r>
            <a:r>
              <a:rPr b="0" sz="950">
                <a:solidFill>
                  <a:srgbClr val="475569"/>
                </a:solidFill>
              </a:rPr>
              <a:t>$t_{arrival}, t_{queue\_enter}, t_{order\_start}, t_{order\_end}, t_{assembly\_end}, t_{seated}, t_{exit}$.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Empirical Sample Summary (N = 120)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Total Observed Arrivals: </a:t>
            </a:r>
            <a:r>
              <a:rPr b="0" sz="950">
                <a:solidFill>
                  <a:srgbClr val="475569"/>
                </a:solidFill>
              </a:rPr>
              <a:t>120 distinct customer arrivals recorded across the 120-minute peak observation period (11:30 AM – 1:30 PM).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Actual Customers Served: </a:t>
            </a:r>
            <a:r>
              <a:rPr b="0" sz="950">
                <a:solidFill>
                  <a:srgbClr val="475569"/>
                </a:solidFill>
              </a:rPr>
              <a:t>35 customers successfully completed payment, assembly, and fulfillment at the single shared counter.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Empirical Balking Instances: </a:t>
            </a:r>
            <a:r>
              <a:rPr b="0" sz="950">
                <a:solidFill>
                  <a:srgbClr val="475569"/>
                </a:solidFill>
              </a:rPr>
              <a:t>85 arriving patrons (70.8%) walked away upon observing extreme queue buildup (15–22 people in line).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Items per Transaction: </a:t>
            </a:r>
            <a:r>
              <a:rPr b="0" sz="950">
                <a:solidFill>
                  <a:srgbClr val="475569"/>
                </a:solidFill>
              </a:rPr>
              <a:t>Dine-In: 1–4 pcs (mean 2.1), Takeout: 1–4 pcs (mean 2.3), Couriers: 1–5 pcs (mean 2.8).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EMPIRICAL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Arrival Surge Intensity &amp; Customer Channel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Joven Terence O. Cantalejo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7</a:t>
            </a:r>
          </a:p>
        </p:txBody>
      </p:sp>
      <p:pic>
        <p:nvPicPr>
          <p:cNvPr id="7" name="Picture 6" descr="fig1_arrival_frequency_and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B22225"/>
                </a:solidFill>
              </a:defRPr>
            </a:pPr>
            <a:r>
              <a:t>Key Empirical Findings: </a:t>
            </a:r>
            <a:r>
              <a:rPr sz="950">
                <a:solidFill>
                  <a:srgbClr val="0F172A"/>
                </a:solidFill>
              </a:rPr>
              <a:t>Arrivals follow a distinct non-homogeneous bell surge peaking between 12:15 PM – 12:45 PM (up to 26 arrivals/15-min). The channel mix consists of 41.7% Dine-In, 30.8% Takeout, and 27.5% Couriers, generating simultaneous competing service demands at the single register.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STOCHASTIC INPUT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Statistical Distribution Fitting &amp; Goodness-of-Fit (K-S Tests)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Joven Terence O. Cantalejo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8</a:t>
            </a:r>
          </a:p>
        </p:txBody>
      </p:sp>
      <p:pic>
        <p:nvPicPr>
          <p:cNvPr id="7" name="Picture 6" descr="fig2_input_distribution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B22225"/>
                </a:solidFill>
              </a:defRPr>
            </a:pPr>
            <a:r>
              <a:t>Distribution Goodness-of-Fit Summary: </a:t>
            </a:r>
            <a:r>
              <a:rPr sz="950">
                <a:solidFill>
                  <a:srgbClr val="0F172A"/>
                </a:solidFill>
              </a:rPr>
              <a:t>Interarrivals fitted to Gamma(alpha=0.78, beta=1.03, KS p=0.86). Cashier ordering times modeled via Triangular distributions: Dine-In (min 0.8, mode 1.6, max 3.2m), Takeout (min 0.6, mode 1.2, max 2.4m), and Couriers (min 0.35, mode 0.7, max 1.3m). All fitted models satisfy p &gt; 0.05 Kolmogorov-Smirnov thresholds.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SIMULATION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Multi-Stage Discrete-Event Simulation Architecture (SimPy)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Joven Terence O. Cantalejo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9</a:t>
            </a:r>
          </a:p>
        </p:txBody>
      </p:sp>
      <p:pic>
        <p:nvPicPr>
          <p:cNvPr id="7" name="Picture 6" descr="fig3_des_queue_networ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B22225"/>
                </a:solidFill>
              </a:defRPr>
            </a:pPr>
            <a:r>
              <a:t>SimPy Operational Architecture: </a:t>
            </a:r>
            <a:r>
              <a:rPr sz="950">
                <a:solidFill>
                  <a:srgbClr val="0F172A"/>
                </a:solidFill>
              </a:rPr>
              <a:t>Implemented as a multi-stage coupled queue network in SimPy. Uses Resource(capacity=1) for Cashier POS, Container(capacity=100) for cooked chicken buffer, Resource(capacity=1) for Assembly packaging, and Resource(capacity=12) for dining tables. Features state-dependent balking logic and continuous time-weighted Lq accumulators.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SPATIAL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Restaurant Floor Plan &amp; 3D Digital Twin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Joven Terence O. Cantalejo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B22225"/>
                </a:solidFill>
              </a:defRPr>
            </a:pPr>
            <a:r>
              <a:t>Savana Market Layout Architecture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Left Dining Room: </a:t>
            </a:r>
            <a:r>
              <a:rPr b="0" sz="950">
                <a:solidFill>
                  <a:srgbClr val="475569"/>
                </a:solidFill>
              </a:rPr>
              <a:t>6 square 2-seat dining tables arranged in 2x3 grid; accessed via private doorway west of main corridor.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Central Service Counter: </a:t>
            </a:r>
            <a:r>
              <a:rPr b="0" sz="950">
                <a:solidFill>
                  <a:srgbClr val="475569"/>
                </a:solidFill>
              </a:rPr>
              <a:t>Cashier POS counter, pass-through pickup window, and adjacent waiting chairs along main thoroughfare.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Central Kitchen Core: </a:t>
            </a:r>
            <a:r>
              <a:rPr b="0" sz="950">
                <a:solidFill>
                  <a:srgbClr val="475569"/>
                </a:solidFill>
              </a:rPr>
              <a:t>Charcoal grilling battery with exhaust hood in rear; assembly prep table and packaging line in front.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Right Dining Hall: </a:t>
            </a:r>
            <a:r>
              <a:rPr b="0" sz="950">
                <a:solidFill>
                  <a:srgbClr val="475569"/>
                </a:solidFill>
              </a:rPr>
              <a:t>6 large dining tables (mix of 4-seat wood rectangular tables &amp; square tables) for larger dine-in groups.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Savana Arcade Facade: </a:t>
            </a:r>
            <a:r>
              <a:rPr b="0" sz="950">
                <a:solidFill>
                  <a:srgbClr val="475569"/>
                </a:solidFill>
              </a:rPr>
              <a:t>Direct glass-fronted entrance along Savana Market covered sidewalk arcade.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Digital Twin Verification &amp; Waypoint Routing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Interactive 3D Digital Twin: </a:t>
            </a:r>
            <a:r>
              <a:rPr b="0" sz="950">
                <a:solidFill>
                  <a:srgbClr val="475569"/>
                </a:solidFill>
              </a:rPr>
              <a:t>Built with Three.js WebGL to visually mirror CHE's exact physical spatial coordinates, yellow walls, and tile flooring.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Exact Chair Seating Logic: </a:t>
            </a:r>
            <a:r>
              <a:rPr b="0" sz="950">
                <a:solidFill>
                  <a:srgbClr val="475569"/>
                </a:solidFill>
              </a:rPr>
              <a:t>Patrons receive table IDs, navigate around interior walls, occupy individual chairs, dine, and vacate tables on meal finish.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Synchronized Queue Step-Up: </a:t>
            </a:r>
            <a:r>
              <a:rPr b="0" sz="950">
                <a:solidFill>
                  <a:srgbClr val="475569"/>
                </a:solidFill>
              </a:rPr>
              <a:t>Queue slots update in real time with 1.0m human spacing without unnatural gaps.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Live Telemetry HUD: </a:t>
            </a:r>
            <a:r>
              <a:rPr b="0" sz="950">
                <a:solidFill>
                  <a:srgbClr val="475569"/>
                </a:solidFill>
              </a:rPr>
              <a:t>Displays real-time Wq, Lq, balking count, courier dwell times, and grill inventory synchronized with SimPy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EXPERIMENTAL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Baseline System Diagnostics: The Operational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Adyson M.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B22225"/>
                </a:solidFill>
              </a:defRPr>
            </a:pPr>
            <a:r>
              <a:t>Baseline Diagnostic Metrics (30 Replications)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Mean Queue Wait Time ($W_q$): </a:t>
            </a:r>
            <a:r>
              <a:rPr b="0" sz="950">
                <a:solidFill>
                  <a:srgbClr val="475569"/>
                </a:solidFill>
              </a:rPr>
              <a:t>13.02 minutes (95% CI: [11.80, 14.24])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Peak Queue Length ($L_{max}$): </a:t>
            </a:r>
            <a:r>
              <a:rPr b="0" sz="950">
                <a:solidFill>
                  <a:srgbClr val="475569"/>
                </a:solidFill>
              </a:rPr>
              <a:t>22.10 customers in line (95% CI: [20.80, 23.40])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Customer Balking Rate ($P_{balk}$): </a:t>
            </a:r>
            <a:r>
              <a:rPr b="0" sz="950">
                <a:solidFill>
                  <a:srgbClr val="475569"/>
                </a:solidFill>
              </a:rPr>
              <a:t>47.27% of arrivals balk (80.7 customers lost per rush)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Courier Mean Dwell Time: </a:t>
            </a:r>
            <a:r>
              <a:rPr b="0" sz="950">
                <a:solidFill>
                  <a:srgbClr val="475569"/>
                </a:solidFill>
              </a:rPr>
              <a:t>68.58 minutes from arrival to order pickup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Cashier Resource Utilization: </a:t>
            </a:r>
            <a:r>
              <a:rPr b="0" sz="950">
                <a:solidFill>
                  <a:srgbClr val="475569"/>
                </a:solidFill>
              </a:rPr>
              <a:t>97.72% (Near total operational saturation)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Order Throughput: </a:t>
            </a:r>
            <a:r>
              <a:rPr b="0" sz="950">
                <a:solidFill>
                  <a:srgbClr val="475569"/>
                </a:solidFill>
              </a:rPr>
              <a:t>7.52 completed orders per operational hour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Key Bottleneck Insights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Severe Upstream Starvation: </a:t>
            </a:r>
            <a:r>
              <a:rPr b="0" sz="950">
                <a:solidFill>
                  <a:srgbClr val="475569"/>
                </a:solidFill>
              </a:rPr>
              <a:t>The single cashier acts as a massive operational choke point, starving the kitchen assembly line while customers queue outside.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Catastrophic Customer Loss: </a:t>
            </a:r>
            <a:r>
              <a:rPr b="0" sz="950">
                <a:solidFill>
                  <a:srgbClr val="475569"/>
                </a:solidFill>
              </a:rPr>
              <a:t>Nearly half of all potential patrons balk due to line visibility; 80+ customers walk away every single lunch rush.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Delivery SLA Breaches: </a:t>
            </a:r>
            <a:r>
              <a:rPr b="0" sz="950">
                <a:solidFill>
                  <a:srgbClr val="475569"/>
                </a:solidFill>
              </a:rPr>
              <a:t>Couriers experience average dwell times of 68+ minutes, severely degrading delivery app ratings and customer satisfaction.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Unused Table Capacity: </a:t>
            </a:r>
            <a:r>
              <a:rPr b="0" sz="950">
                <a:solidFill>
                  <a:srgbClr val="475569"/>
                </a:solidFill>
              </a:rPr>
              <a:t>Despite full dining rooms, table turnover is constrained by order-taking delays rather than physical seating limits.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OPTIMIZATION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Evaluated Operational Scenarios (A, B, C &amp; Combined)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Adyson M.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22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B22225"/>
                </a:solidFill>
              </a:defRPr>
            </a:pPr>
            <a:r>
              <a:t>Scenario A: Channel Decoupling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Mechanism: Deploys a dedicated Express POS 2 for Takeout &amp; Couriers while keeping POS 1 for Dine-In.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Expected Impact: Cuts courier interference with dine-in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D97706"/>
                </a:solidFill>
              </a:defRPr>
            </a:pPr>
            <a:r>
              <a:t>Scenario B: Floating Expediter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Mechanism: A roving staff member with paper/mobile slips pre-takes orders when queue length reaches &gt;= 4.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Expected Impact: Reduces register transaction duration by 55%.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7C3AED"/>
                </a:solidFill>
              </a:defRPr>
            </a:pPr>
            <a:r>
              <a:t>Scenario C: Dynamic Peak Staffing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Mechanism: Reallocates 1 kitchen prep worker to front-line assembly and bagging during rush (mins 30–90).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Expected Impact: Accelerates chicken packaging by 35%.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59669"/>
                </a:solidFill>
              </a:defRPr>
            </a:pPr>
            <a:r>
              <a:t>Combined Policy (Exploratory)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</a:defRPr>
            </a:pPr>
            <a:r>
              <a:t>Mechanism: Synchronous deployment of Decoupled POS 2 + Floating Expediter + Dynamic Peak Assembly Support.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Expected Impact: Synergistic optimization across all stages.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EXPERIMENTAL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Comparative Simulation Results: Waiting Time &amp; Balking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Adyson M.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13</a:t>
            </a:r>
          </a:p>
        </p:txBody>
      </p:sp>
      <p:pic>
        <p:nvPicPr>
          <p:cNvPr id="7" name="Picture 6" descr="fig6_scenario_waiting_and_que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B22225"/>
                </a:solidFill>
              </a:defRPr>
            </a:pPr>
            <a:r>
              <a:t>Quantitative Results Summary (30 Replications): </a:t>
            </a:r>
            <a:r>
              <a:rPr sz="950">
                <a:solidFill>
                  <a:srgbClr val="0F172A"/>
                </a:solidFill>
              </a:rPr>
              <a:t>Channel Decoupling (Scenario A) reduces mean queue waiting time by 87.7% (13.02m -&gt; 1.60m). The Floating Expediter (Scenario B) achieves a 61.2% wait reduction (5.05m). The Combined Policy achieves a 88.6% wait reduction (1.48m) and suppresses customer balking from 47.3% down to 3.73%.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DECISION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Operational Trade-Offs, Courier Dwell &amp; Staffing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Adyson M.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14</a:t>
            </a:r>
          </a:p>
        </p:txBody>
      </p:sp>
      <p:pic>
        <p:nvPicPr>
          <p:cNvPr id="7" name="Picture 6" descr="fig7_throughput_and_balking_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0" y="1371600"/>
            <a:ext cx="487649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B22225"/>
                </a:solidFill>
              </a:defRPr>
            </a:pPr>
            <a:r>
              <a:t>Implementation Trade-Off Analysis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Scenario A (Decoupling): </a:t>
            </a:r>
            <a:r>
              <a:rPr b="0" sz="950">
                <a:solidFill>
                  <a:srgbClr val="475569"/>
                </a:solidFill>
              </a:rPr>
              <a:t>Highest wait time reduction; requires physical hardware (2nd POS register terminal + counter space).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Scenario B (Expediter): </a:t>
            </a:r>
            <a:r>
              <a:rPr b="0" sz="950">
                <a:solidFill>
                  <a:srgbClr val="475569"/>
                </a:solidFill>
              </a:rPr>
              <a:t>Zero capital expense; uses existing roving personnel with order slips; cuts balking by 62.4%.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Scenario C (Dynamic Staff): </a:t>
            </a:r>
            <a:r>
              <a:rPr b="0" sz="950">
                <a:solidFill>
                  <a:srgbClr val="475569"/>
                </a:solidFill>
              </a:rPr>
              <a:t>Best for courier dwell time reduction (56.09 min); does not solve cashier bottleneck on its own.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Combined Policy: </a:t>
            </a:r>
            <a:r>
              <a:rPr b="0" sz="950">
                <a:solidFill>
                  <a:srgbClr val="475569"/>
                </a:solidFill>
              </a:rPr>
              <a:t>Optimal operational efficiency: 12.35 orders/hr throughput, 3.7% balking, and 51.71m dwell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STRESS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Sensitivity Analysis across Arrival Volume Surges (±20%)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Adyson M.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15</a:t>
            </a:r>
          </a:p>
        </p:txBody>
      </p:sp>
      <p:pic>
        <p:nvPicPr>
          <p:cNvPr id="7" name="Picture 6" descr="fig8_sensitivity_analysis_arrival_su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B22225"/>
                </a:solidFill>
              </a:defRPr>
            </a:pPr>
            <a:r>
              <a:t>Sensitivity &amp; Robustness Findings: </a:t>
            </a:r>
            <a:r>
              <a:rPr sz="950">
                <a:solidFill>
                  <a:srgbClr val="0F172A"/>
                </a:solidFill>
              </a:rPr>
              <a:t>Under a +20% customer surge, Baseline wait times explode to 18.9 minutes with 61.8% balking. In contrast, Scenario A (Decoupling) and Combined Policy maintain stable wait times under 3.4 minutes and balking below 8%, demonstrating superior system resilience under stochastic demand spikes.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VALIDATION &amp;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Model Validation, Statistical Confidence &amp; Research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Adyson M. Reales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16</a:t>
            </a:r>
          </a:p>
        </p:txBody>
      </p:sp>
      <p:pic>
        <p:nvPicPr>
          <p:cNvPr id="7" name="Picture 6" descr="fig9_validation_observed_vs_simul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B22225"/>
                </a:solidFill>
              </a:defRPr>
            </a:pPr>
            <a:r>
              <a:t>Validation &amp; Methodological Rigor: </a:t>
            </a:r>
            <a:r>
              <a:rPr sz="950">
                <a:solidFill>
                  <a:srgbClr val="0F172A"/>
                </a:solidFill>
              </a:rPr>
              <a:t>Simulated queue parameters match observed field metrics within 95% confidence intervals (Observed Lq = 14.2 vs Simulated Lq = 13.77; Peak Lq = 22.0 vs Simulated Lmax = 22.1). Conducted across 30 independent Monte Carlo replications with common random numbers (CRN) for variance reduction.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22225"/>
                </a:solidFill>
              </a:defRPr>
            </a:pPr>
            <a:r>
              <a:t>CONCLUSIONS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Conclusions, Phased Implementation Roadmap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411480"/>
            <a:ext cx="228600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Presenter: All Presenters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CSS142P Modeling &amp; Simulation | Carlo's Bacolod Chicken House Express (CHE) Makati | Slide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B22225"/>
                </a:solidFill>
              </a:defRPr>
            </a:pPr>
            <a:r>
              <a:t>Core Research Conclusions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Order-Taking is the Primary Bottleneck: </a:t>
            </a:r>
            <a:r>
              <a:rPr b="0" sz="950">
                <a:solidFill>
                  <a:srgbClr val="475569"/>
                </a:solidFill>
              </a:rPr>
              <a:t>CHE's operational crisis is driven by cashier register saturation (97.7%), not seating or kitchen capacity.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Channel Decoupling is Highest-ROI: </a:t>
            </a:r>
            <a:r>
              <a:rPr b="0" sz="950">
                <a:solidFill>
                  <a:srgbClr val="475569"/>
                </a:solidFill>
              </a:rPr>
              <a:t>Separating walk-in/dine-in from couriers via a secondary Express counter eliminates 88% of line delays.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Floating Expediter as Immediate Fix: </a:t>
            </a:r>
            <a:r>
              <a:rPr b="0" sz="950">
                <a:solidFill>
                  <a:srgbClr val="475569"/>
                </a:solidFill>
              </a:rPr>
              <a:t>Deploying a roving order-taker requires zero hardware and recovers 60%+ of lost sales immediately.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Combined Policy Delivers Optimum: </a:t>
            </a:r>
            <a:r>
              <a:rPr b="0" sz="950">
                <a:solidFill>
                  <a:srgbClr val="475569"/>
                </a:solidFill>
              </a:rPr>
              <a:t>Synergistic deployment cuts balking from 47.3% to 3.7% and elevates throughput to 12.35 orders/hr.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Managerial Implementation Roadmap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Phase 1: Immediate Zero-Cost Action: </a:t>
            </a:r>
            <a:r>
              <a:rPr b="0" sz="950">
                <a:solidFill>
                  <a:srgbClr val="475569"/>
                </a:solidFill>
              </a:rPr>
              <a:t>Implement Scenario B (Floating Expediter) during peak hours (12:00–1:00 PM / 7:00–8:00 PM) using order slips.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Phase 2: Dynamic Kitchen Allocation: </a:t>
            </a:r>
            <a:r>
              <a:rPr b="0" sz="950">
                <a:solidFill>
                  <a:srgbClr val="475569"/>
                </a:solidFill>
              </a:rPr>
              <a:t>Reallocate prep staff to tray assembly (Scenario C) during active rush windows to prevent order staging delays.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Phase 3: Hardware Decoupling: </a:t>
            </a:r>
            <a:r>
              <a:rPr b="0" sz="950">
                <a:solidFill>
                  <a:srgbClr val="475569"/>
                </a:solidFill>
              </a:rPr>
              <a:t>Install a dedicated Express POS 2 terminal (Scenario A) for courier dispatch and takeout orders.</a:t>
            </a:r>
          </a:p>
          <a:p>
            <a:pPr>
              <a:spcAft>
                <a:spcPts val="800"/>
              </a:spcAft>
              <a:defRPr b="1" sz="1000">
                <a:solidFill>
                  <a:srgbClr val="0F172A"/>
                </a:solidFill>
              </a:defRPr>
            </a:pPr>
            <a:r>
              <a:t>• Thank You / Open for Panel Questions: </a:t>
            </a:r>
            <a:r>
              <a:rPr b="0" sz="950">
                <a:solidFill>
                  <a:srgbClr val="475569"/>
                </a:solidFill>
              </a:rPr>
              <a:t>Sean Earl Y. Bornilla | Joven Terence O. Cantalejo | Adyson M. Reales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